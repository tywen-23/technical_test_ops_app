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90af906b2e4c65" /><Relationship Type="http://schemas.openxmlformats.org/officeDocument/2006/relationships/extended-properties" Target="/docProps/app.xml" Id="Rc6f7beac52654789" /><Relationship Type="http://schemas.openxmlformats.org/officeDocument/2006/relationships/officeDocument" Target="/ppt/presentation.xml" Id="Rb6b34f5cf77b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790da96faf4fb3"/>
  </p:sldMasterIdLst>
  <p:notesMasterIdLst>
    <p:notesMasterId xmlns:r="http://schemas.openxmlformats.org/officeDocument/2006/relationships" r:id="R597f2e6837cd4f6e"/>
  </p:notesMasterIdLst>
  <p:sldIdLst>
    <p:sldId xmlns:r="http://schemas.openxmlformats.org/officeDocument/2006/relationships" id="256" r:id="R58a865daf45741cc"/>
    <p:sldId xmlns:r="http://schemas.openxmlformats.org/officeDocument/2006/relationships" id="257" r:id="R61ad40c6809547b3"/>
    <p:sldId xmlns:r="http://schemas.openxmlformats.org/officeDocument/2006/relationships" id="258" r:id="R6d83c6ba7db84da8"/>
    <p:sldId xmlns:r="http://schemas.openxmlformats.org/officeDocument/2006/relationships" id="259" r:id="Rec18f2977b8a4099"/>
    <p:sldId xmlns:r="http://schemas.openxmlformats.org/officeDocument/2006/relationships" id="260" r:id="R8d1e307435c242f1"/>
    <p:sldId xmlns:r="http://schemas.openxmlformats.org/officeDocument/2006/relationships" id="261" r:id="R54d6a16f59914085"/>
    <p:sldId xmlns:r="http://schemas.openxmlformats.org/officeDocument/2006/relationships" id="262" r:id="Rcf3a9e7808d844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0e1d9779084e22" /><Relationship Type="http://schemas.openxmlformats.org/officeDocument/2006/relationships/slideMaster" Target="/ppt/slideMasters/slideMaster1.xml" Id="R35790da96faf4fb3" /><Relationship Type="http://schemas.openxmlformats.org/officeDocument/2006/relationships/notesMaster" Target="/ppt/notesMasters/notesMaster1.xml" Id="R597f2e6837cd4f6e" /><Relationship Type="http://schemas.openxmlformats.org/officeDocument/2006/relationships/presProps" Target="/ppt/presProps.xml" Id="Rc9c865a592054e54" /><Relationship Type="http://schemas.openxmlformats.org/officeDocument/2006/relationships/tableStyles" Target="/ppt/tableStyles.xml" Id="R72c6b188a2ea4ba6" /><Relationship Type="http://schemas.openxmlformats.org/officeDocument/2006/relationships/slide" Target="/ppt/slides/slide1.xml" Id="R58a865daf45741cc" /><Relationship Type="http://schemas.openxmlformats.org/officeDocument/2006/relationships/slide" Target="/ppt/slides/slide2.xml" Id="R61ad40c6809547b3" /><Relationship Type="http://schemas.openxmlformats.org/officeDocument/2006/relationships/slide" Target="/ppt/slides/slide3.xml" Id="R6d83c6ba7db84da8" /><Relationship Type="http://schemas.openxmlformats.org/officeDocument/2006/relationships/slide" Target="/ppt/slides/slide4.xml" Id="Rec18f2977b8a4099" /><Relationship Type="http://schemas.openxmlformats.org/officeDocument/2006/relationships/slide" Target="/ppt/slides/slide5.xml" Id="R8d1e307435c242f1" /><Relationship Type="http://schemas.openxmlformats.org/officeDocument/2006/relationships/slide" Target="/ppt/slides/slide6.xml" Id="R54d6a16f59914085" /><Relationship Type="http://schemas.openxmlformats.org/officeDocument/2006/relationships/slide" Target="/ppt/slides/slide7.xml" Id="Rcf3a9e7808d844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db50960ef8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95ca9f9c64bc6" /><Relationship Type="http://schemas.openxmlformats.org/officeDocument/2006/relationships/notesMaster" Target="/ppt/notesMasters/notesMaster1.xml" Id="R236e93e8bc0240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70ea7bcd9e4210" /><Relationship Type="http://schemas.openxmlformats.org/officeDocument/2006/relationships/notesMaster" Target="/ppt/notesMasters/notesMaster1.xml" Id="R4987136722f44d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026a2c71ec4a6e" /><Relationship Type="http://schemas.openxmlformats.org/officeDocument/2006/relationships/notesMaster" Target="/ppt/notesMasters/notesMaster1.xml" Id="R1550ddab1edf41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bff8322a7c4e76" /><Relationship Type="http://schemas.openxmlformats.org/officeDocument/2006/relationships/notesMaster" Target="/ppt/notesMasters/notesMaster1.xml" Id="Rf27ccaf523a847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54a9acb0b84b92" /><Relationship Type="http://schemas.openxmlformats.org/officeDocument/2006/relationships/notesMaster" Target="/ppt/notesMasters/notesMaster1.xml" Id="R4083f0d335ab49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ffa3918922484e" /><Relationship Type="http://schemas.openxmlformats.org/officeDocument/2006/relationships/notesMaster" Target="/ppt/notesMasters/notesMaster1.xml" Id="Rd48203800c5240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82ef6feaf14530" /><Relationship Type="http://schemas.openxmlformats.org/officeDocument/2006/relationships/notesMaster" Target="/ppt/notesMasters/notesMaster1.xml" Id="R211219a8180f4c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df8b192a74f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7c47514041456b" /><Relationship Type="http://schemas.openxmlformats.org/officeDocument/2006/relationships/slideLayout" Target="/ppt/slideLayouts/slideLayout1.xml" Id="Re16679ea8ad34a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6679ea8ad34a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6219f281c491e" /><Relationship Type="http://schemas.openxmlformats.org/officeDocument/2006/relationships/notesSlide" Target="/ppt/notesSlides/notesSlide1.xml" Id="R882911dd9eee40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cc3e8b34d40c3" /><Relationship Type="http://schemas.openxmlformats.org/officeDocument/2006/relationships/image" Target="/ppt/media/image.png" Id="R7dad0e64a4cc4c2a" /><Relationship Type="http://schemas.openxmlformats.org/officeDocument/2006/relationships/notesSlide" Target="/ppt/notesSlides/notesSlide2.xml" Id="Red83251e374245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64d921cf94a3f" /><Relationship Type="http://schemas.openxmlformats.org/officeDocument/2006/relationships/notesSlide" Target="/ppt/notesSlides/notesSlide3.xml" Id="R7c522a0d09214a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8ca906d6a4d16" /><Relationship Type="http://schemas.openxmlformats.org/officeDocument/2006/relationships/notesSlide" Target="/ppt/notesSlides/notesSlide4.xml" Id="Rb20d12f6084142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ab3b86358426c" /><Relationship Type="http://schemas.openxmlformats.org/officeDocument/2006/relationships/image" Target="/ppt/media/image2.png" Id="Rf73b9bd82e194049" /><Relationship Type="http://schemas.openxmlformats.org/officeDocument/2006/relationships/notesSlide" Target="/ppt/notesSlides/notesSlide5.xml" Id="R8feebde75a174e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461c5a3244b78" /><Relationship Type="http://schemas.openxmlformats.org/officeDocument/2006/relationships/notesSlide" Target="/ppt/notesSlides/notesSlide6.xml" Id="R09edef166b8344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1de2a97064c7d" /><Relationship Type="http://schemas.openxmlformats.org/officeDocument/2006/relationships/notesSlide" Target="/ppt/notesSlides/notesSlide7.xml" Id="R435250d0acfd48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5B0A1-B559-4BFD-AA93-0F2652D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Sales KPI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A5D5D-6DCC-4412-8753-CC54E81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6D9D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6D9DE"/>
                </a:solidFill>
                <a:latin typeface="Arial"/>
                <a:ea typeface="Arial"/>
                <a:cs typeface="Arial"/>
              </a:rPr>
              <a:t>Correctness, pace to target, and recovery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D8A20-EA92-4D9B-992F-BC9F0B62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Yi Wen</a:t>
            </a:r>
          </a:p>
        </p:txBody>
      </p:sp>
    </p:spTree>
    <p:extLst>
      <p:ext uri="{BB962C8B-B14F-4D97-AF65-F5344CB8AC3E}">
        <p14:creationId xmlns:p14="http://schemas.microsoft.com/office/powerpoint/2010/main" val="1518446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F4791-256B-4B4D-8EAB-C6CE1E28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Five defects distorted the dashboard KPIs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28975-A38C-4D10-9BA3-78F54894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The baseline mixed invalid transactions with incorrect aggregation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36D4F-AE55-4755-86B8-1F79ED3B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6972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19050">
            <a:solidFill>
              <a:srgbClr val="AEB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d0e64a4cc4c2a"/>
          <a:stretch xmlns:a="http://schemas.openxmlformats.org/drawingml/2006/main"/>
        </p:blipFill>
        <p:spPr>
          <a:xfrm xmlns:a="http://schemas.openxmlformats.org/drawingml/2006/main">
            <a:off x="923162" y="1600200"/>
            <a:ext cx="6040377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31FA9-7961-4C8F-B850-177D1CE6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38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9A992-96DD-4576-8E64-6934EB0C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Refunded sales counted in revenue and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132CC-9C55-4BFE-99B3-B2E9F331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27F45-1005-41BE-9BE8-CF782B46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Discount percentage subtracted as a fixed RM amount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8262D-94BB-45EB-8A96-56387AA3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9B15C-A01A-48C9-A557-D804AAE7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Category revenue overwritten instead of accumulated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59C15-F990-456A-B034-2176C72D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741B9-7A0E-4D27-B180-615FE062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624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Online sales classified as in-store sales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A6856-1D12-4E5A-84D3-C0955702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2C9CE-58A7-451D-B4A9-31CCF6FC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434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Attainment divided by order count instead of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3FB32-A8D7-4BCD-81E9-889E6E11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0893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6A1E3-CBD8-4677-896E-425C8D3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Corrected September KPIs reconcile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43B5F-4538-4932-9C59-536260DC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Revised results match a direct PostgreSQL validation query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90600" y="1752600"/>
          <a:ext xmlns:a="http://schemas.openxmlformats.org/drawingml/2006/main" cx="102108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95750"/>
                <a:gridCol w="2857500"/>
                <a:gridCol w="325755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Original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Corrected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Net 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RM 5,054.00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RM 4,792.70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Orders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Average order 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RM 126.35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RM 129.53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Target attainment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12,635%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47.9%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C757E-6FF6-4AC5-A320-9CA92036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43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37 completed orders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D63E2-A3A3-4F35-AAAE-5E5DFF34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43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3 refunded records excluded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F455E-58FE-4915-8ADB-DBCFCB56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RM 10,000 monthly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75DD7-0EE5-4508-ACB5-5965B93E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003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C7A65-D9DB-471C-91CF-A0BEE2C3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Calculation logic now matches the business definitions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011B0-D8C0-4E9F-9E7B-7976171D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NET REVENUE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397D0-4041-4F94-A369-4098B26F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Quantity × unit price × (1 − discount ÷ 100)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BF9E2-B45F-4A56-9733-D4C20FF2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9720F-A973-469D-9053-514BD8AB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TARGET ATTAINMENT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733B9-E190-4B38-A775-B292EF1F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Completed-sales revenue ÷ monthly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A5E8C-5E75-4EA8-8FDA-59410D72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811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47667-2881-43AE-93E4-D277A12A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Implementation choices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2EB04-8CB4-420A-94F0-C6E8B7AF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45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One completed-sales collection feeds totals and breakdowns.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7C151-CA5A-462E-964F-0C978D7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445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Exact channel matching separates online and in-store revenue.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AC0AE-9479-4D01-B75A-B9707C75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445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Missing or zero targets return N/A without invalid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B3292-BB0E-4BE6-955F-3C4C7D53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5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The sales table retains refunded rows for operational visibility.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7FF81-1D9D-45C8-9ED9-272723E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48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61FEC-807F-4CF9-BF58-89989DA7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Pace to Target adds a forward-looking monthly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2199B-1C4F-48A7-B99E-93B4AE6F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Malaysia time determines elapsed days for the current month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A14D4-B08C-4296-8DFF-88344C50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CURRENT MONTH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AB841-03DD-4B64-9249-1B682009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MTD revenue ÷ elapsed days × days in month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3218C-E30F-44B2-8F39-99600C8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Past month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58E41-2C75-4EB3-8AF2-6ED13D7F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Projection equals actual 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50C14-9F64-46F8-8297-7A4D9C8A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Future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3513F-7860-42F2-BBD3-2B9EA70F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Zero elapsed days and an N/A projection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BCA6B-B0A7-49A2-96EF-2A6555E2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Edge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8CBC2-8072-49ED-B3F8-32C2CE2C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Leap years, missing targets, and divide-by-zero protection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18EC1-6343-4632-A6F3-0FA9F61F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43050"/>
            <a:ext cx="7258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19050">
            <a:solidFill>
              <a:srgbClr val="AEB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b9bd82e194049"/>
          <a:stretch xmlns:a="http://schemas.openxmlformats.org/drawingml/2006/main"/>
        </p:blipFill>
        <p:spPr>
          <a:xfrm xmlns:a="http://schemas.openxmlformats.org/drawingml/2006/main">
            <a:off x="4495800" y="2242906"/>
            <a:ext cx="7143750" cy="2981789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85FDC-12AB-4E23-ADFA-06A1557E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6829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4CEBF-58C9-4937-979F-394C387D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Recovery insight defines the daily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345CF-9D61-409D-8ED2-97746611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The panel explains what the operations team needs to recover before month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65FA0-85BF-4360-8922-AE7C02E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RM 5,207.30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526EF-819E-49C1-AAD2-F5326C19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REMAINING TO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01E97-FD18-4408-BBF5-0E0B1EB7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6D853-9A6E-4DC1-8EFC-A65882B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DAYS REMAINING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3A4A7-FA03-4284-9CB6-2B85D7C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240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RM 520.73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42577-5757-41C3-BD49-62B2C88A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REQUIRED PER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3BD09-4969-43E7-A8F6-868B61E5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439A5-09E4-42B8-8B5B-CCD45D1B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Recovery calculation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C414D-CD9F-4852-95FB-27839FDE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max(target − MTD revenue, 0) ÷ remaining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9005B-9CD1-44EF-BA6C-57AB398B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Safeguards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8302D-E889-4824-9302-4F2FF4F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5300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91D"/>
                </a:solidFill>
                <a:latin typeface="Arial"/>
                <a:ea typeface="Arial"/>
                <a:cs typeface="Arial"/>
              </a:rPr>
              <a:t>Reached target returns RM0 per day. Past months and missing targets return N/A. The final day never divides by zero.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1E638-BA73-4792-B879-C718C49A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Business value: the dashboard now explains the risk and the action required to close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B6359-81F5-4571-B023-50FFCF53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57174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2C0F8-1114-4DE7-9004-0ACF39E3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Automated checks cover critical 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16F66-A316-4DDD-B4AF-7A8B7066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39882-2983-408E-A4BA-A45F3F48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BACKEND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1255F-89DA-477F-BCC8-739E21A2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0164F-625C-4663-8955-5D53F235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FRONTEND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266B6-8C52-4A03-AAC6-031AA0D8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3CEB4-935D-43D4-91FF-B5A7A2AD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CALCULATION DEFECTS FIXED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BA5A4-C542-4BC0-8B58-80411EBC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764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45F81-D48A-480E-903D-9B618A99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0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37987"/>
                </a:solidFill>
                <a:latin typeface="Arial"/>
                <a:ea typeface="Arial"/>
                <a:cs typeface="Arial"/>
              </a:rPr>
              <a:t>OPERATIONAL INNOVATION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781050" y="3143250"/>
          <a:ext xmlns:a="http://schemas.openxmlformats.org/drawingml/2006/main" cx="106299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143250"/>
                <a:gridCol w="7486650"/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area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KPI correctness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Discounts, refunds, AOV, attainment, category and channel aggregation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Calendar logic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Past, current and future months, plus leap years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Safety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Missing targets, zero remaining days and N/A values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Delivery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191D"/>
                          </a:solidFill>
                          <a:latin typeface="Arial"/>
                          <a:ea typeface="Arial"/>
                          <a:cs typeface="Arial"/>
                        </a:rPr>
                        <a:t>Docker workflow, API endpoint, README and small Git commits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A5094-B18D-4AC5-AABD-52D0B93A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91D"/>
                </a:solidFill>
                <a:latin typeface="Arial"/>
                <a:ea typeface="Arial"/>
                <a:cs typeface="Arial"/>
              </a:rPr>
              <a:t>github.com/tywen-23/technical_test_ops_app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5CD14-42A1-440D-9F2E-C8206F6D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379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98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4895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2026-09-20T15:13:13.3480000Z</dcterms:created>
  <dcterms:modified xsi:type="dcterms:W3CDTF">2026-09-20T15:13:13.3490000Z</dcterms:modified>
</coreProperties>
</file>